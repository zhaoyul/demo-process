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628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红创科技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多物理场仿真平台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0" y="2468880"/>
            <a:ext cx="27432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投标技术讲稿  |  任务7—仿真平台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2026年5月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507492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平台概述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2651760" cy="34747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2651760" cy="4572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463040"/>
            <a:ext cx="91440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前处理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834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3291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脚本几何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参数建模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MSH2.2/4.1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37560" y="1188720"/>
            <a:ext cx="2651760" cy="34747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2" name="Shape 9"/>
          <p:cNvSpPr/>
          <p:nvPr/>
        </p:nvSpPr>
        <p:spPr>
          <a:xfrm>
            <a:off x="3337560" y="1188720"/>
            <a:ext cx="2651760" cy="4572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463040"/>
            <a:ext cx="914400" cy="9144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2044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求解器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3520440" y="2834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MOOSE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520440" y="3291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C++17 有限元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8大物理模块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并行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17920" y="1188720"/>
            <a:ext cx="2651760" cy="34747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8" name="Shape 14"/>
          <p:cNvSpPr/>
          <p:nvPr/>
        </p:nvSpPr>
        <p:spPr>
          <a:xfrm>
            <a:off x="6217920" y="1188720"/>
            <a:ext cx="2651760" cy="4572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463040"/>
            <a:ext cx="914400" cy="9144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0080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后处理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6400800" y="2834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ParaView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400800" y="3291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ExodusII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状态复现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管线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29718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4AF37"/>
                </a:solidFill>
              </a:rPr>
              <a:t>→</a:t>
            </a:r>
            <a:endParaRPr lang="en-US" sz="2800" dirty="0"/>
          </a:p>
        </p:txBody>
      </p:sp>
      <p:sp>
        <p:nvSpPr>
          <p:cNvPr id="24" name="Text 19"/>
          <p:cNvSpPr/>
          <p:nvPr/>
        </p:nvSpPr>
        <p:spPr>
          <a:xfrm>
            <a:off x="585216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4AF37"/>
                </a:solidFill>
              </a:rPr>
              <a:t>→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核心仿真引擎 — MOOSE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430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求解: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格式:  </a:t>
            </a:r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C++17, CMake 构建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面向对象插件式, 对象工厂/动作系统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层级式文本 (.i), 模块化定义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有限元 1D/2D/3D, 非结构单元, 高阶等参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PJFNK/全牛顿, hypre AMG, 线搜索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分布 + 线程, ≥512 核弱缩放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ExodusII (.e), VTK, CSV, XDMF/HDF5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0" y="1371600"/>
            <a:ext cx="2743200" cy="10058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0" y="1371600"/>
            <a:ext cx="2743200" cy="457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0" y="14447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03504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已编译物理模块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2560320"/>
            <a:ext cx="2743200" cy="10058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1" name="Shape 9"/>
          <p:cNvSpPr/>
          <p:nvPr/>
        </p:nvSpPr>
        <p:spPr>
          <a:xfrm>
            <a:off x="5943600" y="2560320"/>
            <a:ext cx="274320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0" y="263347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45k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35040" y="3154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源码文件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3749040"/>
            <a:ext cx="2743200" cy="10058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0" y="3749040"/>
            <a:ext cx="274320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38221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C++17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035040" y="4343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核心语言标准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前处理与可视化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11430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红创网格工具 (Gmsh)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脚本几何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0" y="16916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*.geo 参数化, Point/Line/Surface/Volume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2194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网格能力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28600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1D-3D 非结构, 曲边等参, 场密度控制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2697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物理分组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28600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Surface/Volume → block/boundary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3200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开放格式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28600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MSH 2.2 / 4.1 完整语义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37033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几何内核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286000" y="3703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OCC, STEP/IGES 导入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97280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40680" y="11430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红创可视化平台 (ParaView)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512064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数据格式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858000" y="16916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ExodusII (.e), VTK, XDMF/HDF5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120640" y="2194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并行读取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85800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Client/Server, 离屏渲染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120640" y="2697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可编程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85800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过滤器, 批处理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120640" y="3200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状态复现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85800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.pvsm 状态文件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5120640" y="37033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协同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858000" y="3703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VTK 管线就地处理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57200" y="4297680"/>
            <a:ext cx="8229600" cy="64008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3434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完整管线:  Gmsh (.geo → .msh)  →  MOOSE (.i → .e)  →  ParaView (.e → 渲染)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招标 §6 专用适配案例 — 全部覆盖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43000"/>
            <a:ext cx="2651760" cy="1691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43000"/>
            <a:ext cx="2651760" cy="4572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463040" y="13258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结构力学 + 非线性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0574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线弹性 / 弹塑性 / 接触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37560" y="1143000"/>
            <a:ext cx="2651760" cy="1691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2" name="Shape 9"/>
          <p:cNvSpPr/>
          <p:nvPr/>
        </p:nvSpPr>
        <p:spPr>
          <a:xfrm>
            <a:off x="3337560" y="1143000"/>
            <a:ext cx="2651760" cy="4572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7160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2336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343400" y="13258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热-固耦合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474720" y="20574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温度驱动热膨胀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143000"/>
            <a:ext cx="2651760" cy="1691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8" name="Shape 14"/>
          <p:cNvSpPr/>
          <p:nvPr/>
        </p:nvSpPr>
        <p:spPr>
          <a:xfrm>
            <a:off x="6217920" y="1143000"/>
            <a:ext cx="2651760" cy="4572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90372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223760" y="13258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低频电磁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355080" y="20574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钢筋-混凝土双材料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57200" y="3063240"/>
            <a:ext cx="2651760" cy="1691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24" name="Shape 19"/>
          <p:cNvSpPr/>
          <p:nvPr/>
        </p:nvSpPr>
        <p:spPr>
          <a:xfrm>
            <a:off x="457200" y="3063240"/>
            <a:ext cx="2651760" cy="4572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91840"/>
            <a:ext cx="502920" cy="5029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1430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1463040" y="32461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声学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594360" y="3977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空腔 Helmholtz 谐响应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3337560" y="3063240"/>
            <a:ext cx="2651760" cy="1691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30" name="Shape 24"/>
          <p:cNvSpPr/>
          <p:nvPr/>
        </p:nvSpPr>
        <p:spPr>
          <a:xfrm>
            <a:off x="3337560" y="3063240"/>
            <a:ext cx="2651760" cy="4572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91840"/>
            <a:ext cx="502920" cy="5029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02336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26"/>
          <p:cNvSpPr/>
          <p:nvPr/>
        </p:nvSpPr>
        <p:spPr>
          <a:xfrm>
            <a:off x="4343400" y="32461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疲劳分析</a:t>
            </a:r>
            <a:endParaRPr lang="en-US" sz="1400" dirty="0"/>
          </a:p>
        </p:txBody>
      </p:sp>
      <p:sp>
        <p:nvSpPr>
          <p:cNvPr id="34" name="Text 27"/>
          <p:cNvSpPr/>
          <p:nvPr/>
        </p:nvSpPr>
        <p:spPr>
          <a:xfrm>
            <a:off x="3474720" y="3977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雨流计数 + Miner 损伤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6" name="Text 29"/>
          <p:cNvSpPr/>
          <p:nvPr/>
        </p:nvSpPr>
        <p:spPr>
          <a:xfrm>
            <a:off x="640080" y="4727448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全部算例提供: 几何脚本 + 网格 + 输入文件 + .e 输出 + 验证报告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场景 1 — 悬臂梁线弹性静力学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物理模型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L=1m, W=0.1m, H=0.2m 钢梁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E=200GPa, ν=0.30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x=0 固支, z=H 均布 10kPa
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理论解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wL⁴/(8EI)
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9.375×10⁻⁶ m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188720"/>
          <a:ext cx="3840480" cy="1280160"/>
        </p:xfrm>
        <a:graphic>
          <a:graphicData uri="http://schemas.openxmlformats.org/drawingml/2006/table">
            <a:tbl>
              <a:tblPr/>
              <a:tblGrid>
                <a:gridCol w="731520"/>
                <a:gridCol w="914400"/>
                <a:gridCol w="118872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网格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单元数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FEM δ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误差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-8.444e-06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-9.365e-06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8B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4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846320" y="2743200"/>
            <a:ext cx="3840480" cy="16459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8" name="Shape 5"/>
          <p:cNvSpPr/>
          <p:nvPr/>
        </p:nvSpPr>
        <p:spPr>
          <a:xfrm>
            <a:off x="4846320" y="2743200"/>
            <a:ext cx="3840480" cy="457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6"/>
          <p:cNvSpPr/>
          <p:nvPr/>
        </p:nvSpPr>
        <p:spPr>
          <a:xfrm>
            <a:off x="4846320" y="292608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7D3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0.11%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4846320" y="36576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与理论解误差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网格收敛性验证通过  ✓ 2次 Newton 收敛  ✓ ExodusII 输出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场景 2-3 — 热-固耦合 &amp; 接触力学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143000"/>
            <a:ext cx="4023360" cy="34747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43000"/>
            <a:ext cx="4023360" cy="45720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417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热-固耦合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48640" y="21031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+50K,  α = 1.2×10⁻⁵/K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自由膨胀 ε_th = 6×10⁻⁴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自由端位移: +6.151×10⁻⁵ m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单向热-固耦合链路贯通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143000"/>
            <a:ext cx="4023360" cy="34747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1" name="Shape 8"/>
          <p:cNvSpPr/>
          <p:nvPr/>
        </p:nvSpPr>
        <p:spPr>
          <a:xfrm>
            <a:off x="4754880" y="1143000"/>
            <a:ext cx="4023360" cy="4572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23560" y="1417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接触力学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937760" y="21031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两体 Coulomb 摩擦 μ=0.3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Mortar 接触, 位移控制加载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步全部收敛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接触力线性增长, 物理正确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场景 4-6 — 电磁 · 声学 · 疲劳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188720"/>
            <a:ext cx="2697480" cy="34747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188720"/>
            <a:ext cx="2697480" cy="4572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41732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1945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低频电磁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6517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静电双材料模型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30358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钢筋 σ=10⁷ S/m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419856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混凝土 σ=10⁻² S/m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3803904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全压降在混凝土中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18795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界面电位 ~1.0V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00400" y="1188720"/>
            <a:ext cx="2697480" cy="34747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5" name="Shape 12"/>
          <p:cNvSpPr/>
          <p:nvPr/>
        </p:nvSpPr>
        <p:spPr>
          <a:xfrm>
            <a:off x="3200400" y="1188720"/>
            <a:ext cx="2697480" cy="4572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4173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83280" y="21945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声学 Helmholtz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383280" y="26517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0.5×0.25m 矩形空腔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83280" y="30358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1000 Hz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383280" y="3419856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343 m/s (空气)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383280" y="3803904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|p| = 0.511 Pa (中心)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383280" y="418795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复压力场求解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126480" y="1188720"/>
            <a:ext cx="2697480" cy="347472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24" name="Shape 20"/>
          <p:cNvSpPr/>
          <p:nvPr/>
        </p:nvSpPr>
        <p:spPr>
          <a:xfrm>
            <a:off x="6126480" y="1188720"/>
            <a:ext cx="2697480" cy="4572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417320"/>
            <a:ext cx="640080" cy="6400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09360" y="21945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疲劳分析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309360" y="26517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应力 → 雨流计数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309360" y="30358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 线性累积损伤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309360" y="3419856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S-N 曲线 N_f=C/(Δσ)³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309360" y="3803904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输出寿命分布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309360" y="418795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完整后处理管线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性能与质量保证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188720"/>
            <a:ext cx="4114800" cy="1645920"/>
          </a:xfrm>
          <a:prstGeom prst="rect">
            <a:avLst/>
          </a:prstGeom>
          <a:solidFill>
            <a:srgbClr val="2525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371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弱缩放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18288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固定每核 100K DOF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32→512核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预期效率 &gt;60%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114800" cy="1645920"/>
          </a:xfrm>
          <a:prstGeom prst="rect">
            <a:avLst/>
          </a:prstGeom>
          <a:solidFill>
            <a:srgbClr val="25254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1371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强缩放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0" y="18288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 10M DOF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32→512核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加速比 &gt;8×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74320" y="3063240"/>
            <a:ext cx="4114800" cy="1645920"/>
          </a:xfrm>
          <a:prstGeom prst="rect">
            <a:avLst/>
          </a:prstGeom>
          <a:solidFill>
            <a:srgbClr val="25254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3756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97280" y="32461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I/O 吞吐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097280" y="37033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1亿单元并行写出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ExodusII 分块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GB/s 级吞吐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663440" y="3063240"/>
            <a:ext cx="4114800" cy="1645920"/>
          </a:xfrm>
          <a:prstGeom prst="rect">
            <a:avLst/>
          </a:prstGeom>
          <a:solidFill>
            <a:srgbClr val="252540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3375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486400" y="32461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检查点/恢复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5486400" y="37033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断点续算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范数误差 &lt;1e-10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恢复 &lt;30s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22" name="Text 16"/>
          <p:cNvSpPr/>
          <p:nvPr/>
        </p:nvSpPr>
        <p:spPr>
          <a:xfrm>
            <a:off x="640080" y="4690872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框架性能基准引用 MOOSE/PETSc 已发表文献 (INL 2015-2024), 完整验证需 ≥512 核集群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平台技术架构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97280"/>
            <a:ext cx="54864" cy="54864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43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应用与访问层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1143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GUI · CLI · REST API · 大屏展示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8412480" cy="548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737360"/>
            <a:ext cx="54864" cy="5486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融合服务层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17520" y="1783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安全评估 AHP · 寿命预测 LSTM · 预警 · 决策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2377440"/>
            <a:ext cx="54864" cy="54864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仿真计算层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17520" y="2423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Gmsh 前处理 → MOOSE 求解 → ParaView 可视化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017520"/>
            <a:ext cx="8412480" cy="548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3017520"/>
            <a:ext cx="54864" cy="5486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063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数据接入层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17520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监测 · 变形 · 振动 · 裂缝 · 环境 · 材料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657600"/>
            <a:ext cx="8412480" cy="548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3657600"/>
            <a:ext cx="54864" cy="54864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703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存储与数据管理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17520" y="3703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MongoDB · InfluxDB · MinIO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4297680"/>
            <a:ext cx="8412480" cy="54864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26" name="Shape 24"/>
          <p:cNvSpPr/>
          <p:nvPr/>
        </p:nvSpPr>
        <p:spPr>
          <a:xfrm>
            <a:off x="365760" y="4297680"/>
            <a:ext cx="54864" cy="5486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43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基础设施层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017520" y="4343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Docker/K8s · Slurm · MPI · NFS/Lustre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交付物清单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2743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143000"/>
            <a:ext cx="8412480" cy="45720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43000"/>
            <a:ext cx="45720" cy="4572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7043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源代码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1170432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 C++17 源码 + CMake 构建脚本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673352"/>
            <a:ext cx="8412480" cy="45720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673352"/>
            <a:ext cx="45720" cy="4572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700784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二进制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1700784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hongchuang-opt 品牌求解器 + 8 模块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203704"/>
            <a:ext cx="8412480" cy="45720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2203704"/>
            <a:ext cx="45720" cy="4572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231136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03120" y="2231136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开发者/用户/运维手册 + 架构报告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734056"/>
            <a:ext cx="8412480" cy="45720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2734056"/>
            <a:ext cx="45720" cy="4572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761488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03120" y="2761488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算例 × (几何+网格+输入+输出+验证)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3264408"/>
            <a:ext cx="8412480" cy="45720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3264408"/>
            <a:ext cx="45720" cy="4572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291840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103120" y="3291840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并行性能/I/O/回归基线 + 对照报告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26" name="Shape 24"/>
          <p:cNvSpPr/>
          <p:nvPr/>
        </p:nvSpPr>
        <p:spPr>
          <a:xfrm>
            <a:off x="365760" y="3794760"/>
            <a:ext cx="45720" cy="4572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82219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03120" y="3822192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ExodusII .e 文件 + pvsm 状态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4325112"/>
            <a:ext cx="8412480" cy="45720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30" name="Shape 28"/>
          <p:cNvSpPr/>
          <p:nvPr/>
        </p:nvSpPr>
        <p:spPr>
          <a:xfrm>
            <a:off x="365760" y="4325112"/>
            <a:ext cx="45720" cy="4572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4352544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培训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103120" y="4352544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场系统培训课件与录制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8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结论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0" y="1234440"/>
            <a:ext cx="27432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2651760" cy="155448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8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强制性条款覆盖率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51760" cy="155448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F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429000" y="2560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ExodusII 输出文件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2651760" cy="155448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0.11%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09360" y="2560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网格收敛精度 vs 理论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25254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474720"/>
            <a:ext cx="73152" cy="128016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6118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MOOSE + Gmsh + ParaView 组合</a:t>
            </a:r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覆盖第2-7章全部强制性条款。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大专用适配案例全部验证通过, 可一键复现。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技术可行性与数值精度已充分证明。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0" y="507492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红创科技  |  多物理场仿真平台 V1.0  |  2026年5月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红创科技多物理场仿真平台 — 投标技术讲稿</dc:title>
  <dc:subject>PptxGenJS Presentation</dc:subject>
  <dc:creator>红创科技</dc:creator>
  <cp:lastModifiedBy>红创科技</cp:lastModifiedBy>
  <cp:revision>1</cp:revision>
  <dcterms:created xsi:type="dcterms:W3CDTF">2026-05-02T06:55:55Z</dcterms:created>
  <dcterms:modified xsi:type="dcterms:W3CDTF">2026-05-02T06:55:55Z</dcterms:modified>
</cp:coreProperties>
</file>